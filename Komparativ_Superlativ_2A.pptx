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f4fe03171a4384" /><Relationship Type="http://schemas.openxmlformats.org/officeDocument/2006/relationships/extended-properties" Target="/docProps/app.xml" Id="Rcc4cbbfcffe14a9d" /><Relationship Type="http://schemas.openxmlformats.org/officeDocument/2006/relationships/officeDocument" Target="/ppt/presentation.xml" Id="R3bca2574dff14d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d355bf7ed94a2e"/>
  </p:sldMasterIdLst>
  <p:notesMasterIdLst>
    <p:notesMasterId xmlns:r="http://schemas.openxmlformats.org/officeDocument/2006/relationships" r:id="R6eaf926e03f94731"/>
  </p:notesMasterIdLst>
  <p:sldIdLst>
    <p:sldId xmlns:r="http://schemas.openxmlformats.org/officeDocument/2006/relationships" id="256" r:id="Ra8c2206a0ef2451a"/>
    <p:sldId xmlns:r="http://schemas.openxmlformats.org/officeDocument/2006/relationships" id="257" r:id="Rb47c10744dfb4676"/>
    <p:sldId xmlns:r="http://schemas.openxmlformats.org/officeDocument/2006/relationships" id="258" r:id="R1897c852762b4d18"/>
    <p:sldId xmlns:r="http://schemas.openxmlformats.org/officeDocument/2006/relationships" id="259" r:id="R51baf4372a5c4da5"/>
    <p:sldId xmlns:r="http://schemas.openxmlformats.org/officeDocument/2006/relationships" id="260" r:id="R56eff3aaf7894b14"/>
    <p:sldId xmlns:r="http://schemas.openxmlformats.org/officeDocument/2006/relationships" id="261" r:id="R2614e1c657344422"/>
    <p:sldId xmlns:r="http://schemas.openxmlformats.org/officeDocument/2006/relationships" id="262" r:id="Rded9eb52c023416a"/>
    <p:sldId xmlns:r="http://schemas.openxmlformats.org/officeDocument/2006/relationships" id="263" r:id="R5a0429ba7e3f4b36"/>
    <p:sldId xmlns:r="http://schemas.openxmlformats.org/officeDocument/2006/relationships" id="264" r:id="Ra6020ad12d4746d5"/>
    <p:sldId xmlns:r="http://schemas.openxmlformats.org/officeDocument/2006/relationships" id="265" r:id="R88b368d8d9084758"/>
    <p:sldId xmlns:r="http://schemas.openxmlformats.org/officeDocument/2006/relationships" id="266" r:id="R9e9e7341929c436b"/>
    <p:sldId xmlns:r="http://schemas.openxmlformats.org/officeDocument/2006/relationships" id="267" r:id="R96edfff541464a0f"/>
    <p:sldId xmlns:r="http://schemas.openxmlformats.org/officeDocument/2006/relationships" id="268" r:id="Ra43dfe5149664c3f"/>
    <p:sldId xmlns:r="http://schemas.openxmlformats.org/officeDocument/2006/relationships" id="269" r:id="R28da3ae0aac349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ab156458c942f7" /><Relationship Type="http://schemas.openxmlformats.org/officeDocument/2006/relationships/slideMaster" Target="/ppt/slideMasters/slideMaster1.xml" Id="R20d355bf7ed94a2e" /><Relationship Type="http://schemas.openxmlformats.org/officeDocument/2006/relationships/notesMaster" Target="/ppt/notesMasters/notesMaster1.xml" Id="R6eaf926e03f94731" /><Relationship Type="http://schemas.openxmlformats.org/officeDocument/2006/relationships/presProps" Target="/ppt/presProps.xml" Id="R206420df5d444387" /><Relationship Type="http://schemas.openxmlformats.org/officeDocument/2006/relationships/tableStyles" Target="/ppt/tableStyles.xml" Id="R1e8b7c228e5048f1" /><Relationship Type="http://schemas.openxmlformats.org/officeDocument/2006/relationships/slide" Target="/ppt/slides/slide1.xml" Id="Ra8c2206a0ef2451a" /><Relationship Type="http://schemas.openxmlformats.org/officeDocument/2006/relationships/slide" Target="/ppt/slides/slide2.xml" Id="Rb47c10744dfb4676" /><Relationship Type="http://schemas.openxmlformats.org/officeDocument/2006/relationships/slide" Target="/ppt/slides/slide3.xml" Id="R1897c852762b4d18" /><Relationship Type="http://schemas.openxmlformats.org/officeDocument/2006/relationships/slide" Target="/ppt/slides/slide4.xml" Id="R51baf4372a5c4da5" /><Relationship Type="http://schemas.openxmlformats.org/officeDocument/2006/relationships/slide" Target="/ppt/slides/slide5.xml" Id="R56eff3aaf7894b14" /><Relationship Type="http://schemas.openxmlformats.org/officeDocument/2006/relationships/slide" Target="/ppt/slides/slide6.xml" Id="R2614e1c657344422" /><Relationship Type="http://schemas.openxmlformats.org/officeDocument/2006/relationships/slide" Target="/ppt/slides/slide7.xml" Id="Rded9eb52c023416a" /><Relationship Type="http://schemas.openxmlformats.org/officeDocument/2006/relationships/slide" Target="/ppt/slides/slide8.xml" Id="R5a0429ba7e3f4b36" /><Relationship Type="http://schemas.openxmlformats.org/officeDocument/2006/relationships/slide" Target="/ppt/slides/slide9.xml" Id="Ra6020ad12d4746d5" /><Relationship Type="http://schemas.openxmlformats.org/officeDocument/2006/relationships/slide" Target="/ppt/slides/slide10.xml" Id="R88b368d8d9084758" /><Relationship Type="http://schemas.openxmlformats.org/officeDocument/2006/relationships/slide" Target="/ppt/slides/slide11.xml" Id="R9e9e7341929c436b" /><Relationship Type="http://schemas.openxmlformats.org/officeDocument/2006/relationships/slide" Target="/ppt/slides/slide12.xml" Id="R96edfff541464a0f" /><Relationship Type="http://schemas.openxmlformats.org/officeDocument/2006/relationships/slide" Target="/ppt/slides/slide13.xml" Id="Ra43dfe5149664c3f" /><Relationship Type="http://schemas.openxmlformats.org/officeDocument/2006/relationships/slide" Target="/ppt/slides/slide14.xml" Id="R28da3ae0aac349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21090329544a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c7e23cdc9247af" /><Relationship Type="http://schemas.openxmlformats.org/officeDocument/2006/relationships/notesMaster" Target="/ppt/notesMasters/notesMaster1.xml" Id="R937655cefff842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2a4a9d16094d05" /><Relationship Type="http://schemas.openxmlformats.org/officeDocument/2006/relationships/notesMaster" Target="/ppt/notesMasters/notesMaster1.xml" Id="Rdade4cdb4aaa43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14887e9afd4de5" /><Relationship Type="http://schemas.openxmlformats.org/officeDocument/2006/relationships/notesMaster" Target="/ppt/notesMasters/notesMaster1.xml" Id="Rfb911753880b4f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025de1258d4c95" /><Relationship Type="http://schemas.openxmlformats.org/officeDocument/2006/relationships/notesMaster" Target="/ppt/notesMasters/notesMaster1.xml" Id="R4df5e4850b7a44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958e7a04a54753" /><Relationship Type="http://schemas.openxmlformats.org/officeDocument/2006/relationships/notesMaster" Target="/ppt/notesMasters/notesMaster1.xml" Id="R249d025cb2b54a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b6a9e5a6ec4bc1" /><Relationship Type="http://schemas.openxmlformats.org/officeDocument/2006/relationships/notesMaster" Target="/ppt/notesMasters/notesMaster1.xml" Id="R640bc9c944f04c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c93e0873644c5d" /><Relationship Type="http://schemas.openxmlformats.org/officeDocument/2006/relationships/notesMaster" Target="/ppt/notesMasters/notesMaster1.xml" Id="Rebcb3731fc8b4f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ec97609a1641ee" /><Relationship Type="http://schemas.openxmlformats.org/officeDocument/2006/relationships/notesMaster" Target="/ppt/notesMasters/notesMaster1.xml" Id="Ra7ed21667ae44b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5e7f22d1214ac9" /><Relationship Type="http://schemas.openxmlformats.org/officeDocument/2006/relationships/notesMaster" Target="/ppt/notesMasters/notesMaster1.xml" Id="Ra21b611cddd044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aef4a003b74fb4" /><Relationship Type="http://schemas.openxmlformats.org/officeDocument/2006/relationships/notesMaster" Target="/ppt/notesMasters/notesMaster1.xml" Id="Rd1799cfdbc7c4a0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1845d4cfed14db0" /><Relationship Type="http://schemas.openxmlformats.org/officeDocument/2006/relationships/notesMaster" Target="/ppt/notesMasters/notesMaster1.xml" Id="R107064359a2744a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42f1f7c83f49a7" /><Relationship Type="http://schemas.openxmlformats.org/officeDocument/2006/relationships/notesMaster" Target="/ppt/notesMasters/notesMaster1.xml" Id="R8ed68aacc24c4e9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22a270c10034ccb" /><Relationship Type="http://schemas.openxmlformats.org/officeDocument/2006/relationships/notesMaster" Target="/ppt/notesMasters/notesMaster1.xml" Id="R8566910cde0c420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6fee86b23674af3" /><Relationship Type="http://schemas.openxmlformats.org/officeDocument/2006/relationships/notesMaster" Target="/ppt/notesMasters/notesMaster1.xml" Id="R9d4b0fee221145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Für 2A. Zuerst nur den Komparativ zeigen. Der Superlativ folgt ab Folie 10. Inhalt orientiert sich an der bereitgestellten KOMPARATIV_Theorie (1).pdf; die Beispielsätze und Preise sind didaktische Beispiele.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Preise sind frei gewählte Beispiele. Zuerst die Lernenden vergleichen lassen, dann beide Sätze gemeinsam lesen.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Kein allgemeiner Umlaut bei jedem kurzen Adjektiv. Die Formen als Wortpaare lernen. Weitere Formen aus der Vorlage bei Bedarf mündlich ergänzen, keine lange Liste vorlesen.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Bei einem Adjektiv auf -e kommt nur -r dazu. Bei dunkel fällt das e in -el weg. Sauer – saurer kann mündlich ergänzt werden.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als nach dem Komparativ. so + Grundform + wie bei Gleichheit. Optional: nicht so teuer wie. Keine Kasusregel erforderlich für diese Beispiele.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gern und viel sind in diesen Beispielen Adverbien. Viel – mehr betrifft oft die Menge. Optional: Ich lese gern, aber ich höre lieber Musik.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Mündlich im Plenum. Erst antworten lassen, dann zur nächsten Folie wechseln. Jede Person begründet eine Antwort mit der passenden Form oder als/wie.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Hier nur die prädikative/adverbiale Form mit am. Attributive Formen wie das kleinste Handy gehören nicht zum Inhalt dieser Einführung.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Typische Endungen der Vorlage: -t, -d, -z, -ss, -ß, -sch brauchen häufig ein zusätzliches e. Groß ist die genannte wichtige Ausnahme. Kein zu allgemeines immer formulieren.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Zwei Minuten Partnerarbeit, danach einige Antworten sammeln. Beispiele als Hilfe: lesen, Musik hören, tanzen, schwimmen. Keine persönlichen Daten sammeln.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94aa95dd02427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ac1f54a4e14d6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e9ccd0867042d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0052fe31bc426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3b7d14b7cb4ed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db6fda2cab42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DF7BE1-577B-4C92-B5E6-18792C0412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B887181-2B0E-472A-9184-2A90508E22C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50E483F-DE12-4939-8CAC-43EED24FFC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522872-FDD1-471A-8123-0F63DDD016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659F95D-ADF0-47FB-87E9-43FC772D1A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5D917FB-1F38-4867-A7D2-494714E1CB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3759367-9A45-48E0-84B9-5323083125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333A8BE-5A9A-4603-96EE-C575C19F9A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C4251C-BEB8-4E02-9249-9F4F027922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AE8B6B-89A8-4FE9-9FEF-242C6D0A08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9af47471564016" /><Relationship Type="http://schemas.openxmlformats.org/officeDocument/2006/relationships/slideLayout" Target="/ppt/slideLayouts/slideLayout1.xml" Id="Rcfec21bcf62d4fc1" /><Relationship Type="http://schemas.openxmlformats.org/officeDocument/2006/relationships/slideLayout" Target="/ppt/slideLayouts/slideLayout2.xml" Id="R5e13252e92a7401a" /><Relationship Type="http://schemas.openxmlformats.org/officeDocument/2006/relationships/slideLayout" Target="/ppt/slideLayouts/slideLayout3.xml" Id="Rc03967b7c1bb4e4b" /><Relationship Type="http://schemas.openxmlformats.org/officeDocument/2006/relationships/slideLayout" Target="/ppt/slideLayouts/slideLayout4.xml" Id="R8a495059e9aa4d75" /><Relationship Type="http://schemas.openxmlformats.org/officeDocument/2006/relationships/slideLayout" Target="/ppt/slideLayouts/slideLayout5.xml" Id="R5c96558ca31349e5" /><Relationship Type="http://schemas.openxmlformats.org/officeDocument/2006/relationships/slideLayout" Target="/ppt/slideLayouts/slideLayout6.xml" Id="R501077960b4d49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ec21bcf62d4fc1"/>
    <p:sldLayoutId xmlns:r="http://schemas.openxmlformats.org/officeDocument/2006/relationships" id="2147483650" r:id="R5e13252e92a7401a"/>
    <p:sldLayoutId xmlns:r="http://schemas.openxmlformats.org/officeDocument/2006/relationships" id="2147483651" r:id="Rc03967b7c1bb4e4b"/>
    <p:sldLayoutId xmlns:r="http://schemas.openxmlformats.org/officeDocument/2006/relationships" id="2147483652" r:id="R8a495059e9aa4d75"/>
    <p:sldLayoutId xmlns:r="http://schemas.openxmlformats.org/officeDocument/2006/relationships" id="2147483653" r:id="R5c96558ca31349e5"/>
    <p:sldLayoutId xmlns:r="http://schemas.openxmlformats.org/officeDocument/2006/relationships" id="2147483654" r:id="R501077960b4d49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141ee46fa2471f" /><Relationship Type="http://schemas.openxmlformats.org/officeDocument/2006/relationships/notesSlide" Target="/ppt/notesSlides/notesSlide1.xml" Id="Re2f7a92dbb6c4e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4c54b73e8746f8" /><Relationship Type="http://schemas.openxmlformats.org/officeDocument/2006/relationships/notesSlide" Target="/ppt/notesSlides/notesSlide2.xml" Id="Re530daa33cf741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b2e57069094a68" /><Relationship Type="http://schemas.openxmlformats.org/officeDocument/2006/relationships/notesSlide" Target="/ppt/notesSlides/notesSlide3.xml" Id="Read10d7ba68348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f4cff31a98477e" /><Relationship Type="http://schemas.openxmlformats.org/officeDocument/2006/relationships/notesSlide" Target="/ppt/notesSlides/notesSlide4.xml" Id="Rc66f449bd4b24c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35116a9d764013" /><Relationship Type="http://schemas.openxmlformats.org/officeDocument/2006/relationships/notesSlide" Target="/ppt/notesSlides/notesSlide5.xml" Id="R8ec670e66c3249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19c78eff88473a" /><Relationship Type="http://schemas.openxmlformats.org/officeDocument/2006/relationships/notesSlide" Target="/ppt/notesSlides/notesSlide6.xml" Id="R1d298154300249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1e104e95784c1e" /><Relationship Type="http://schemas.openxmlformats.org/officeDocument/2006/relationships/notesSlide" Target="/ppt/notesSlides/notesSlide7.xml" Id="Rd9d1e936d3914f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84f14fde3140da" /><Relationship Type="http://schemas.openxmlformats.org/officeDocument/2006/relationships/notesSlide" Target="/ppt/notesSlides/notesSlide8.xml" Id="R5b4297bf70d94d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03bcb2c2ed4b9a" /><Relationship Type="http://schemas.openxmlformats.org/officeDocument/2006/relationships/notesSlide" Target="/ppt/notesSlides/notesSlide9.xml" Id="Rc1efb668b3114f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fb0c64cd75453e" /><Relationship Type="http://schemas.openxmlformats.org/officeDocument/2006/relationships/notesSlide" Target="/ppt/notesSlides/notesSlide10.xml" Id="R99d122aee2ca4ac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2a4c4b3bc14382" /><Relationship Type="http://schemas.openxmlformats.org/officeDocument/2006/relationships/notesSlide" Target="/ppt/notesSlides/notesSlide11.xml" Id="R5a08c5f2f47444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0e8de894054f14" /><Relationship Type="http://schemas.openxmlformats.org/officeDocument/2006/relationships/notesSlide" Target="/ppt/notesSlides/notesSlide12.xml" Id="R8a7a78a408dc46b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d9d94902004ea2" /><Relationship Type="http://schemas.openxmlformats.org/officeDocument/2006/relationships/notesSlide" Target="/ppt/notesSlides/notesSlide13.xml" Id="R8206c5b6e09746d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2eb339c3c24255" /><Relationship Type="http://schemas.openxmlformats.org/officeDocument/2006/relationships/notesSlide" Target="/ppt/notesSlides/notesSlide14.xml" Id="Rc519bd6dbdf142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A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B8B7FD-4D63-437F-9A42-B43BAF5E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Vergleichen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D269B-911A-47C8-927F-10B757ED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040572-472A-474F-8DFA-CAAC5143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9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900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klein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E38E6-7AA6-40F0-BCEA-941E97A5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0375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54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kleiner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915582-1126-4ADB-BC8E-4833B1E3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43375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C24F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C24F3D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C24F3D"/>
                </a:solidFill>
                <a:latin typeface="DejaVu Sans"/>
                <a:ea typeface="DejaVu Sans"/>
                <a:cs typeface="DejaVu Sans"/>
              </a:rPr>
              <a:t>am kleinsten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057A7-47F6-443B-B175-8271A6C2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5C7078"/>
                </a:solidFill>
                <a:latin typeface="DejaVu Sans"/>
                <a:ea typeface="DejaVu Sans"/>
                <a:cs typeface="DejaVu Sans"/>
              </a:rPr>
              <a:t>Komparativ und Superlativ</a:t>
            </a:r>
          </a:p>
        </p:txBody>
      </p:sp>
    </p:spTree>
    <p:extLst>
      <p:ext uri="{BB962C8B-B14F-4D97-AF65-F5344CB8AC3E}">
        <p14:creationId xmlns:p14="http://schemas.microsoft.com/office/powerpoint/2010/main" val="19339285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B92BE1-9CBB-4517-A1EF-0D102895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Zwei Handys vergleichen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A8B70C-4A2A-4FF3-80F3-63680E62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C95D6-D2F5-4DA0-B60D-407728FD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5C7078"/>
                </a:solidFill>
                <a:latin typeface="DejaVu Sans"/>
                <a:ea typeface="DejaVu Sans"/>
                <a:cs typeface="DejaVu Sans"/>
              </a:rPr>
              <a:t>Handy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DC8FD-0839-49C8-A693-3AAF84F2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5C7078"/>
                </a:solidFill>
                <a:latin typeface="DejaVu Sans"/>
                <a:ea typeface="DejaVu Sans"/>
                <a:cs typeface="DejaVu Sans"/>
              </a:rPr>
              <a:t>Handy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467CE-4A2A-4B8F-A4BE-20F278CB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54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200 €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C9F22-3B9B-4C8C-8345-D63A95BE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C24F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5400" b="1">
                <a:solidFill>
                  <a:srgbClr val="C24F3D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C24F3D"/>
                </a:solidFill>
                <a:latin typeface="DejaVu Sans"/>
                <a:ea typeface="DejaVu Sans"/>
                <a:cs typeface="DejaVu Sans"/>
              </a:rPr>
              <a:t>400 €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AB705-973F-4785-9615-E51CC796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Handy A ist billiger als Handy 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EFCD34-DB4F-45B0-ABDE-CD9F1283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Handy B ist teurer als Handy A.</a:t>
            </a:r>
          </a:p>
        </p:txBody>
      </p:sp>
    </p:spTree>
    <p:extLst>
      <p:ext uri="{BB962C8B-B14F-4D97-AF65-F5344CB8AC3E}">
        <p14:creationId xmlns:p14="http://schemas.microsoft.com/office/powerpoint/2010/main" val="7136523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68F548-E67D-4943-AD46-5012CB66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Komparativ: Adjektiv + -er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07719-5E6A-4E3C-8A65-E2ABA204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16D0A0-DF0E-48CF-8D87-CACAD765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90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klein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A74F1-6536-4930-8680-AC9D55D3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95500"/>
            <a:ext cx="571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kleiner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2203C9-4C9C-4602-8FAB-8FEB3D48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390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schnell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BA005F-AE04-44CD-A07A-A8CC8EB3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48000"/>
            <a:ext cx="571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schneller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8A41D3-C82B-46A5-AEC5-9F1DD5B2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390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billig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627696-6C5D-4A07-8BE9-4198C6BB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00500"/>
            <a:ext cx="571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billiger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D76100-BB63-4218-983B-37F508E5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C24F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C24F3D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C24F3D"/>
                </a:solidFill>
                <a:latin typeface="DejaVu Sans"/>
                <a:ea typeface="DejaVu Sans"/>
                <a:cs typeface="DejaVu Sans"/>
              </a:rPr>
              <a:t>Mein Handy ist kleiner als dein Handy.</a:t>
            </a:r>
          </a:p>
        </p:txBody>
      </p:sp>
    </p:spTree>
    <p:extLst>
      <p:ext uri="{BB962C8B-B14F-4D97-AF65-F5344CB8AC3E}">
        <p14:creationId xmlns:p14="http://schemas.microsoft.com/office/powerpoint/2010/main" val="16257501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061C14-37B0-4444-8D72-87DCADFC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Manche Adjektive bekommen einen Umlaut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304464-F4AC-48CD-A918-2DED0A01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977C3-0B4E-4DAB-88E1-F76AC5C6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90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alt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4A611-D6EE-4E3E-91B1-B61E7D26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95500"/>
            <a:ext cx="571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älter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0AD60-2D63-4F5E-A06D-7881F580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390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jung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DC031-C381-42D3-9A77-4D6AF76B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48000"/>
            <a:ext cx="571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jünger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0AAA66-55A9-45E4-B7B1-3D65ED35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390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groß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3F60B-C253-45D4-B38B-2FB6F445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00500"/>
            <a:ext cx="571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größer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141B9-F5CD-4E79-BAF9-AFB10050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5C7078"/>
                </a:solidFill>
                <a:latin typeface="DejaVu Sans"/>
                <a:ea typeface="DejaVu Sans"/>
                <a:cs typeface="DejaVu Sans"/>
              </a:rPr>
              <a:t>Auch: kalt – kälter, warm – wärmer, lang – länger</a:t>
            </a:r>
          </a:p>
        </p:txBody>
      </p:sp>
    </p:spTree>
    <p:extLst>
      <p:ext uri="{BB962C8B-B14F-4D97-AF65-F5344CB8AC3E}">
        <p14:creationId xmlns:p14="http://schemas.microsoft.com/office/powerpoint/2010/main" val="7111126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DAD74-1D1E-4B48-92AF-4F63ED69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Besondere Schreibweisen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EBAA9-6249-432E-B414-1B3A1FA5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45A0C-B3A4-4DA2-AA07-A528B453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90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leise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BF504-AE28-4BCB-9058-DFA4E899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95500"/>
            <a:ext cx="571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leiser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C3715-230D-4FAC-B0B4-56892CC4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390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teuer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0D03E-F0A6-48C3-8174-6A204A53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48000"/>
            <a:ext cx="571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teurer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CD033E-76DB-44CF-9990-3CA1392B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390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dunkel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DDEC4-372B-434A-86DB-682C9101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00500"/>
            <a:ext cx="571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dunkler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E98752-3A4F-425A-A2F8-F308747E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5C7078"/>
                </a:solidFill>
                <a:latin typeface="DejaVu Sans"/>
                <a:ea typeface="DejaVu Sans"/>
                <a:cs typeface="DejaVu Sans"/>
              </a:rPr>
              <a:t>teurer: Das e vor dem r fällt weg.</a:t>
            </a:r>
          </a:p>
        </p:txBody>
      </p:sp>
    </p:spTree>
    <p:extLst>
      <p:ext uri="{BB962C8B-B14F-4D97-AF65-F5344CB8AC3E}">
        <p14:creationId xmlns:p14="http://schemas.microsoft.com/office/powerpoint/2010/main" val="9297896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9E458-31A4-4834-A708-BEB36EAF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als oder wie?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58386E-FDEF-4941-96CD-23D8F70D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DADD9A-E39D-426F-A554-EFE1DB5D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UNTERSCHIED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13D66B-93DE-4D5B-8630-62D7F5C8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200 € und 400 €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F4F48-AB4B-4928-A961-EB56F4B2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A ist billiger als B.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892906-16A4-4F65-AD57-260AB794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C24F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C24F3D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C24F3D"/>
                </a:solidFill>
                <a:latin typeface="DejaVu Sans"/>
                <a:ea typeface="DejaVu Sans"/>
                <a:cs typeface="DejaVu Sans"/>
              </a:rPr>
              <a:t>GLEICH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C0315C-7B97-4CAE-BFD1-140BD00E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200 € und 200 €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5DF0A-4014-494C-BAB9-DECD885B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C24F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C24F3D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C24F3D"/>
                </a:solidFill>
                <a:latin typeface="DejaVu Sans"/>
                <a:ea typeface="DejaVu Sans"/>
                <a:cs typeface="DejaVu Sans"/>
              </a:rPr>
              <a:t>A ist so teuer wie B.</a:t>
            </a:r>
          </a:p>
        </p:txBody>
      </p:sp>
    </p:spTree>
    <p:extLst>
      <p:ext uri="{BB962C8B-B14F-4D97-AF65-F5344CB8AC3E}">
        <p14:creationId xmlns:p14="http://schemas.microsoft.com/office/powerpoint/2010/main" val="3016793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939148-5EA1-459A-A448-056E9F34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Diese Formen lernen wir zusammen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6C89D-CB6D-44A3-9478-08ACF7B4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DC354-352E-4554-ADDA-0A279E3E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90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gut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D2641-1840-46DE-9968-7A4F1AC5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95500"/>
            <a:ext cx="571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besser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39EA45-1102-4787-805D-42567EF2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390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viel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CA4CD-4B8D-480A-B48E-A4E7CD9E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48000"/>
            <a:ext cx="571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mehr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720FC-9896-495D-B7E0-CE214C87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390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gern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C8E239-BD26-4460-BE8B-576B3D60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00500"/>
            <a:ext cx="571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lieber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4F4361-85D1-41A4-8FBE-1F67AA5E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C24F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C24F3D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C24F3D"/>
                </a:solidFill>
                <a:latin typeface="DejaVu Sans"/>
                <a:ea typeface="DejaVu Sans"/>
                <a:cs typeface="DejaVu Sans"/>
              </a:rPr>
              <a:t>Ich höre lieber Musik als Radio.</a:t>
            </a:r>
          </a:p>
        </p:txBody>
      </p:sp>
    </p:spTree>
    <p:extLst>
      <p:ext uri="{BB962C8B-B14F-4D97-AF65-F5344CB8AC3E}">
        <p14:creationId xmlns:p14="http://schemas.microsoft.com/office/powerpoint/2010/main" val="16086364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68435-E363-4D10-AD3C-941675C8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Gemeinsam üben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71C40A-EBA0-4D39-9806-E6D64937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FF5CA-DB9C-44BB-960B-EB22E155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5C7078"/>
                </a:solidFill>
                <a:latin typeface="DejaVu Sans"/>
                <a:ea typeface="DejaVu Sans"/>
                <a:cs typeface="DejaVu Sans"/>
              </a:rPr>
              <a:t>Ergänzt die richtige Form.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CBA67-2718-48D3-B563-3D042CB1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1. Mein Handy ist ________ als dein Handy. (klein)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892FE2-59FF-4CCF-8D9E-822BE25D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2. Meine Schwester ist ________ als ich. (jung)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57F57-6659-4054-A3A3-DD389F6F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3. Ich finde den Film ________ als das Buch. (gut)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CFF4B2-3B7F-4789-8396-5BBC7F7E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4. Der Laptop ist so teuer ________ das Handy.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8EEE32-AD12-478D-AB31-A87FEF2C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5. Ich höre ________ Musik als Radio. (gern)</a:t>
            </a:r>
          </a:p>
        </p:txBody>
      </p:sp>
    </p:spTree>
    <p:extLst>
      <p:ext uri="{BB962C8B-B14F-4D97-AF65-F5344CB8AC3E}">
        <p14:creationId xmlns:p14="http://schemas.microsoft.com/office/powerpoint/2010/main" val="1151653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84258-9D46-4665-93A5-3EAF9C58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Lösungen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A9B1B-7F0E-4562-AB41-5AA06CC0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6A602D-2EA0-4D7E-A2AB-BE698945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1. Mein Handy ist kleiner als dein Handy.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84105-4AF4-48EB-90A0-21524F3C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2. Meine Schwester ist jünger als ich.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8EB3E-CCE5-400C-8D5B-4CF79BAC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3. Ich finde den Film besser als das Buch.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C8C843-7FE6-4A51-95E9-CB1E0752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4. Der Laptop ist so teuer wie das Handy.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CBD5BF-3587-4B66-8D49-8CD64888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5. Ich höre lieber Musik als Radio.</a:t>
            </a:r>
          </a:p>
        </p:txBody>
      </p:sp>
    </p:spTree>
    <p:extLst>
      <p:ext uri="{BB962C8B-B14F-4D97-AF65-F5344CB8AC3E}">
        <p14:creationId xmlns:p14="http://schemas.microsoft.com/office/powerpoint/2010/main" val="5450588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5E7EE-F2F4-4FAC-9990-578F36F4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Superlativ: der höchste Grad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126E2-1967-4A2A-9CB5-9BD0DC7C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AEB483-A626-4E4C-81D3-513ADB63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5C7078"/>
                </a:solidFill>
                <a:latin typeface="DejaVu Sans"/>
                <a:ea typeface="DejaVu Sans"/>
                <a:cs typeface="DejaVu Sans"/>
              </a:rPr>
              <a:t>Handy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33408-12B3-4E23-9C6D-3D9448BE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57375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5C7078"/>
                </a:solidFill>
                <a:latin typeface="DejaVu Sans"/>
                <a:ea typeface="DejaVu Sans"/>
                <a:cs typeface="DejaVu Sans"/>
              </a:rPr>
              <a:t>Handy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2B453-6D60-488D-A896-490DD91F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57375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5C7078"/>
                </a:solidFill>
                <a:latin typeface="DejaVu Sans"/>
                <a:ea typeface="DejaVu Sans"/>
                <a:cs typeface="DejaVu Sans"/>
              </a:rPr>
              <a:t>Handy 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EA2E8-D753-4F39-8EA6-EAEA3152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465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4650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200 €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DED08-D814-45CD-9D10-D6EE70F0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465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4650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400 €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513EBA-2454-4C51-82FA-C28B19B0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C24F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C24F3D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C24F3D"/>
                </a:solidFill>
                <a:latin typeface="DejaVu Sans"/>
                <a:ea typeface="DejaVu Sans"/>
                <a:cs typeface="DejaVu Sans"/>
              </a:rPr>
              <a:t>600 €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25F6C-C923-4D09-A93E-385791F6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C24F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C24F3D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C24F3D"/>
                </a:solidFill>
                <a:latin typeface="DejaVu Sans"/>
                <a:ea typeface="DejaVu Sans"/>
                <a:cs typeface="DejaVu Sans"/>
              </a:rPr>
              <a:t>Handy C ist am teuersten.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6A8AD0-37F7-4E71-BB62-C6BA2B59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5C7078"/>
                </a:solidFill>
                <a:latin typeface="DejaVu Sans"/>
                <a:ea typeface="DejaVu Sans"/>
                <a:cs typeface="DejaVu Sans"/>
              </a:rPr>
              <a:t>Wir vergleichen alle drei Handys.</a:t>
            </a:r>
          </a:p>
        </p:txBody>
      </p:sp>
    </p:spTree>
    <p:extLst>
      <p:ext uri="{BB962C8B-B14F-4D97-AF65-F5344CB8AC3E}">
        <p14:creationId xmlns:p14="http://schemas.microsoft.com/office/powerpoint/2010/main" val="1712292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3F6BC9-E75C-41CF-B88C-C8E2D1E3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Superlativ: am + Adjektiv + -sten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B9D3B-85FD-4B3F-9102-0DD4A8AD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FD991-405A-45D4-8EDA-FF548BAD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90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klein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77A297-4C1C-4B55-B848-255ADB0C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95500"/>
            <a:ext cx="571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am kleinsten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5E1E2-9356-494A-BA93-E36A965C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390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schnell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C3F5F-A535-4248-8432-0960EAF6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48000"/>
            <a:ext cx="571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am schnellsten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63B54-E85F-4B02-A445-C4035242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390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billig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DF3F4-B2A4-492E-8C21-45F7092B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00500"/>
            <a:ext cx="571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am billigsten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646E27-69E6-4C2A-958F-EC3C1E4A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5C7078"/>
                </a:solidFill>
                <a:latin typeface="DejaVu Sans"/>
                <a:ea typeface="DejaVu Sans"/>
                <a:cs typeface="DejaVu Sans"/>
              </a:rPr>
              <a:t>Auch: schön – am schönsten</a:t>
            </a:r>
          </a:p>
        </p:txBody>
      </p:sp>
    </p:spTree>
    <p:extLst>
      <p:ext uri="{BB962C8B-B14F-4D97-AF65-F5344CB8AC3E}">
        <p14:creationId xmlns:p14="http://schemas.microsoft.com/office/powerpoint/2010/main" val="20207394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F12165-589D-4BE1-8180-4B421FEE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Manchmal brauchen wir -esten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377BF4-8FD4-4B86-B254-77552D12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2E225-7186-453A-A8C6-6B91A1B8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90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alt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F8F75-06C4-4FBE-895F-93F6C9C4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95500"/>
            <a:ext cx="571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am ältesten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F7ABC-9927-4106-800F-E4567712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390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heiß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263D3-DF9A-48D4-835A-FE29D91D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48000"/>
            <a:ext cx="571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am heißesten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B82E8-827A-42F8-896F-5AEC6E32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390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leise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7E5C17-0A82-4C06-8CFF-BCDC93E4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00500"/>
            <a:ext cx="571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am leisesten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F179C0-EFDF-41AA-8773-1C9ED37F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C24F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C24F3D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C24F3D"/>
                </a:solidFill>
                <a:latin typeface="DejaVu Sans"/>
                <a:ea typeface="DejaVu Sans"/>
                <a:cs typeface="DejaVu Sans"/>
              </a:rPr>
              <a:t>Eine wichtige Ausnahme: groß – am größten</a:t>
            </a:r>
          </a:p>
        </p:txBody>
      </p:sp>
    </p:spTree>
    <p:extLst>
      <p:ext uri="{BB962C8B-B14F-4D97-AF65-F5344CB8AC3E}">
        <p14:creationId xmlns:p14="http://schemas.microsoft.com/office/powerpoint/2010/main" val="7134511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0E9CC-B854-47F2-9383-999D733D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Wichtige besondere Formen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751C46-FB82-4FF2-846E-D1326165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59D83F-4C95-4296-B158-ABCA72F4952D}"/>
              </a:ext>
            </a:extLst>
          </p:cNvPr>
          <p:cNvGraphicFramePr/>
          <p:nvPr/>
        </p:nvGraphicFramePr>
        <p:xfrm>
          <a:off xmlns:a="http://schemas.openxmlformats.org/drawingml/2006/main" x="762000" y="1809750"/>
          <a:ext xmlns:a="http://schemas.openxmlformats.org/drawingml/2006/main" cx="10668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429000"/>
                <a:gridCol w="4381500"/>
              </a:tblGrid>
              <a:tr h="619125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731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Grundform</a:t>
                      </a:r>
                    </a:p>
                  </a:txBody>
                  <a:tcPr marL="91440" marR="91440" marT="45720" marB="45720">
                    <a:solidFill>
                      <a:srgbClr val="E2EE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731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Komparativ</a:t>
                      </a:r>
                    </a:p>
                  </a:txBody>
                  <a:tcPr marL="91440" marR="91440" marT="45720" marB="45720">
                    <a:solidFill>
                      <a:srgbClr val="E2EE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087F8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Superlativ</a:t>
                      </a:r>
                    </a:p>
                  </a:txBody>
                  <a:tcPr marL="91440" marR="91440" marT="45720" marB="45720">
                    <a:solidFill>
                      <a:srgbClr val="E2EEEB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1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1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besser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087F8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am besten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1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viel</a:t>
                      </a:r>
                    </a:p>
                  </a:txBody>
                  <a:tcPr marL="91440" marR="91440" marT="45720" marB="45720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1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mehr</a:t>
                      </a:r>
                    </a:p>
                  </a:txBody>
                  <a:tcPr marL="91440" marR="91440" marT="45720" marB="45720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087F8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am meisten</a:t>
                      </a:r>
                    </a:p>
                  </a:txBody>
                  <a:tcPr marL="91440" marR="91440" marT="45720" marB="45720">
                    <a:solidFill>
                      <a:srgbClr val="F2F5F3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1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gern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1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lieber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087F8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am liebsten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1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hoch</a:t>
                      </a:r>
                    </a:p>
                  </a:txBody>
                  <a:tcPr marL="91440" marR="91440" marT="45720" marB="45720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1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höher</a:t>
                      </a:r>
                    </a:p>
                  </a:txBody>
                  <a:tcPr marL="91440" marR="91440" marT="45720" marB="45720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087F8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am höchsten</a:t>
                      </a:r>
                    </a:p>
                  </a:txBody>
                  <a:tcPr marL="91440" marR="91440" marT="45720" marB="45720">
                    <a:solidFill>
                      <a:srgbClr val="F2F5F3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1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nah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1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näher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087F8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am nächsten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CF159-A90C-4EC0-898E-BFEAF455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626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C7078"/>
                </a:solidFill>
                <a:latin typeface="DejaVu Sans"/>
                <a:ea typeface="DejaVu Sans"/>
                <a:cs typeface="DejaVu Sans"/>
              </a:rPr>
              <a:t>Ich lese gern. Ich höre lieber Musik. Ich tanze am liebsten.</a:t>
            </a:r>
          </a:p>
        </p:txBody>
      </p:sp>
    </p:spTree>
    <p:extLst>
      <p:ext uri="{BB962C8B-B14F-4D97-AF65-F5344CB8AC3E}">
        <p14:creationId xmlns:p14="http://schemas.microsoft.com/office/powerpoint/2010/main" val="1646977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5815AA-39AB-4367-B34B-717A67E4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Vergleiche im Kurs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DBE00-2A88-4E70-AA42-925C0686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C7078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9E53F-7452-4BD9-A352-69C45DFB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5C707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5C7078"/>
                </a:solidFill>
                <a:latin typeface="DejaVu Sans"/>
                <a:ea typeface="DejaVu Sans"/>
                <a:cs typeface="DejaVu Sans"/>
              </a:rPr>
              <a:t>Sprecht zu zweit.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35AAF-B959-40E4-A488-985773FD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Was findest du interessanter: Bücher oder Filme?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1DA7C9-DF9F-482A-8C42-BDB693EE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Ich finde … interessanter als 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79130-BAD5-4A56-A71B-B6799D51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1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313D"/>
                </a:solidFill>
                <a:latin typeface="DejaVu Sans"/>
                <a:ea typeface="DejaVu Sans"/>
                <a:cs typeface="DejaVu Sans"/>
              </a:rPr>
              <a:t>Was machst du am liebsten?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FDE6C-C572-4318-AE2A-BE7FAF2D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C24F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C24F3D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C24F3D"/>
                </a:solidFill>
                <a:latin typeface="DejaVu Sans"/>
                <a:ea typeface="DejaVu Sans"/>
                <a:cs typeface="DejaVu Sans"/>
              </a:rPr>
              <a:t>Ich … am liebsten.</a:t>
            </a:r>
          </a:p>
        </p:txBody>
      </p:sp>
    </p:spTree>
    <p:extLst>
      <p:ext uri="{BB962C8B-B14F-4D97-AF65-F5344CB8AC3E}">
        <p14:creationId xmlns:p14="http://schemas.microsoft.com/office/powerpoint/2010/main" val="2614022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2026-10-12T18:07:39.3990000Z</dcterms:created>
  <dcterms:modified xsi:type="dcterms:W3CDTF">2026-10-12T18:07:39.3990000Z</dcterms:modified>
</coreProperties>
</file>